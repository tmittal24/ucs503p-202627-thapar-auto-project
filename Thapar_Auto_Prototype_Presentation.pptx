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22222"/>
                </a:solidFill>
                <a:latin typeface="Arial"/>
              </a:rPr>
              <a:t>Booking Outcome (n = 100 simulated requests)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 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bubble3D val="0"/>
            <c:spPr>
              <a:solidFill>
                <a:srgbClr val="2F3C7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222222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222222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Pooled onto enroute auto</c:v>
                </c:pt>
                <c:pt idx="1">
                  <c:v>Fresh dispatch from idle queue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62</c:v>
                </c:pt>
                <c:pt idx="1">
                  <c:v>38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 Autos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4-seater</c:v>
                  </c:pt>
                  <c:pt idx="1">
                    <c:v>5-seater</c:v>
                  </c:pt>
                  <c:pt idx="2">
                    <c:v>7-seater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5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Number of autos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cost per student (Rs.)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Individual auto (estimated)</c:v>
                  </c:pt>
                  <c:pt idx="1">
                    <c:v>Thapar Auto (shared, flat)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Rs. per seat, per trip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(days)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Requirements &amp; Feasibility</c:v>
                  </c:pt>
                  <c:pt idx="1">
                    <c:v>System Design (Use-Case/DFD/ER)</c:v>
                  </c:pt>
                  <c:pt idx="2">
                    <c:v>Backend Development</c:v>
                  </c:pt>
                  <c:pt idx="3">
                    <c:v>Frontend Development</c:v>
                  </c:pt>
                  <c:pt idx="4">
                    <c:v>Auth &amp; Payment Integration</c:v>
                  </c:pt>
                  <c:pt idx="5">
                    <c:v>Integration &amp; Testing</c:v>
                  </c:pt>
                  <c:pt idx="6">
                    <c:v>Docs &amp; Deployment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</c:v>
                </c:pt>
                <c:pt idx="1">
                  <c:v>14</c:v>
                </c:pt>
                <c:pt idx="2">
                  <c:v>20</c:v>
                </c:pt>
                <c:pt idx="3">
                  <c:v>27</c:v>
                </c:pt>
                <c:pt idx="4">
                  <c:v>10</c:v>
                </c:pt>
                <c:pt idx="5">
                  <c:v>14</c:v>
                </c:pt>
                <c:pt idx="6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3A438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C7CCE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C7CCE8"/>
                    </a:solidFill>
                    <a:latin typeface="Arial"/>
                  </a:rPr>
                  <a:t>Days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7CC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350"/>
        </a:solidFill>
        <a:ln>
          <a:noFill/>
        </a:ln>
        <a:effectLst/>
      </c:spPr>
    </c:plotArea>
    <c:plotVisOnly val="1"/>
    <c:dispBlanksAs val="span"/>
  </c:chart>
  <c:spPr>
    <a:solidFill>
      <a:srgbClr val="1B235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2926080" cy="2926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3317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THAPAR AUTO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Auto Booking &amp; Pooling — Prototype Overview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8620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System Design Prototype  •  Thapar Institute of Engineering and Technology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8463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4846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•  Node.js  •  SQLite  •  Firebase Auth  •  UPI Payments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mobility between hostels, academic blocks, and the library is slow, uncoordinated, and cash-dependent.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920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Wait Times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26771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wait at stops with no visibility into when the next auto will arrive.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17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971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Seats, Wasted Trips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31927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 leave half-full because there's no way to pool nearby requests.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69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23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Cash-Only Friction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37083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Fumbling for exact change slows boarding and creates disputes.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20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074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Queue Fairness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542239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have no fair, first-in-first-out system for picking up the next ride.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732520" y="1965960"/>
            <a:ext cx="2926080" cy="4023360"/>
          </a:xfrm>
          <a:prstGeom prst="roundRect">
            <a:avLst>
              <a:gd name="adj" fmla="val 3750"/>
            </a:avLst>
          </a:prstGeom>
          <a:solidFill>
            <a:srgbClr val="F7F7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32520" y="2286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</a:t>
            </a:r>
            <a:endParaRPr lang="en-US" sz="5200" dirty="0"/>
          </a:p>
        </p:txBody>
      </p:sp>
      <p:sp>
        <p:nvSpPr>
          <p:cNvPr id="22" name="Text 20"/>
          <p:cNvSpPr txBox="1"/>
          <p:nvPr/>
        </p:nvSpPr>
        <p:spPr>
          <a:xfrm>
            <a:off x="8732520" y="3246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stops served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shared route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52560" y="4023360"/>
            <a:ext cx="22860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32520" y="4160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10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8732520" y="4937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fare per seat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haggling, no change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Auto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pooling-first booking system that matches students to autos already on the road, and dispatches idle autos fairly when it can't.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7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46888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Pooling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86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requests are matched to enroute autos heading the same direction with spare seats.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2148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7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0" y="24688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Availability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886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poolable autos and idle-queue depth before they tap Book.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2148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7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269480" y="2468880"/>
            <a:ext cx="731520" cy="7315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QR Payments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886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driver's static QR and pay the flat per-seat fare — no cash needed.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89720" y="2148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7F7F9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49840" y="24688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Idle Queue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3886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autos dispatch strictly FIFO and rejoin the back of the queue after each trip.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Auto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cross-platform stack chosen for fast prototyping and easy campus deployment.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2F3C7E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242316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37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67588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0690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Android, iOS, Web, Windows &amp; Linux from one codebase.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0712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2F3C7E"/>
          </a:solidFill>
          <a:ln/>
        </p:spPr>
      </p:sp>
      <p:sp>
        <p:nvSpPr>
          <p:cNvPr id="11" name="Shape 9"/>
          <p:cNvSpPr/>
          <p:nvPr/>
        </p:nvSpPr>
        <p:spPr>
          <a:xfrm>
            <a:off x="4347972" y="242316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347972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3337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367588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40690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for booking, matching, and dispatch.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72784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2F3C7E"/>
          </a:solidFill>
          <a:ln/>
        </p:spPr>
      </p:sp>
      <p:sp>
        <p:nvSpPr>
          <p:cNvPr id="17" name="Shape 15"/>
          <p:cNvSpPr/>
          <p:nvPr/>
        </p:nvSpPr>
        <p:spPr>
          <a:xfrm>
            <a:off x="7210044" y="242316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7210044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3337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367588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40690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embedded store via better-sqlite3.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34856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2F3C7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72116" y="242316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10072116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9272016" y="3337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/ Google Auth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272016" y="367588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317736" y="40690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Phone-OTP for drivers, @thapar.edu Google Sign-In for students.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Auto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 talk to a single REST API backed by SQLite; the matching engine decides pooled vs. fresh dispatch.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2677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334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8221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879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66160" y="297180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3090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REST API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4564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· autos · drivers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0" y="219456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9E79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66560" y="22677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6334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vs. idle-queue logic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66560" y="37490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9E79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3822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41879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+ Google Sign-In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875520" y="29718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B23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875520" y="30906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0" y="34564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drivers ·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 · bookings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51760" y="2651760"/>
            <a:ext cx="914400" cy="5943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2651760" y="26563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HTTPS/JSON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51760" y="4206240"/>
            <a:ext cx="914400" cy="-5943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43600" y="3291840"/>
            <a:ext cx="822960" cy="-5943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943600" y="3566160"/>
            <a:ext cx="822960" cy="5486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052560" y="2834640"/>
            <a:ext cx="822960" cy="4572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52560" y="4023360"/>
            <a:ext cx="822960" cy="-5029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Auto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— Entity-Relationship Diagram</a:t>
            </a:r>
            <a:endParaRPr lang="en-US" sz="2600" dirty="0"/>
          </a:p>
        </p:txBody>
      </p:sp>
      <p:pic>
        <p:nvPicPr>
          <p:cNvPr id="3" name="Image 0" descr="/home/claude/work/er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51560"/>
            <a:ext cx="10881360" cy="5257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Auto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&amp; Dispatch Flow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System and Driver swimlanes — from stop selection through pooling/dispatch to payment and trip completion.</a:t>
            </a:r>
            <a:endParaRPr lang="en-US" sz="1250" dirty="0"/>
          </a:p>
        </p:txBody>
      </p:sp>
      <p:pic>
        <p:nvPicPr>
          <p:cNvPr id="4" name="Image 0" descr="/home/claude/work/activity_diagra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77440" y="1280160"/>
            <a:ext cx="740664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Auto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Algorithm in Action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outcome of 100 sample booking requests against the pooling-first matching engine.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57607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583680" y="19202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909560" y="19659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requests were pooled onto an auto already en route — no new dispatch needed.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9718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30175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 fresh dispatch from the idle FIFO queue.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4023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4069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were rejected in the simulation (idle queue kept pace with demand).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Auto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Capacity Mix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autos by seating capacity during the pilot registration window (illustrative).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5836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828800"/>
            <a:ext cx="4206240" cy="4297680"/>
          </a:xfrm>
          <a:prstGeom prst="roundRect">
            <a:avLst>
              <a:gd name="adj" fmla="val 2174"/>
            </a:avLst>
          </a:prstGeom>
          <a:solidFill>
            <a:srgbClr val="F7F7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52360" y="21031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2880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autos onboarded in the pilot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818120" y="3520440"/>
            <a:ext cx="3474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0" y="374904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5-seaters give the best pooling flexibility — enough capacity to absorb a second or third pooled request without idling.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Auto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Fare Economics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average per-trip cost per student: a full individual auto fare vs. the flat, pooled Thapar Auto fare.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371600" y="187452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595360" y="2468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~75%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34290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estimated cost per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when pooled, vs.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individually-hired auto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Auto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Timeline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duration (in days) for each project phase, Jan – Apr 2026.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11064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Auto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core screens implement the full student and driver loop.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7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6314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631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391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Select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4144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or Driver entry point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8745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7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2631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2631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0391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Login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44144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Sign-In, @thapar.edu only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7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226314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2631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20391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Home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44144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stops, seats &amp; see availability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7F7F9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9090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090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6850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08736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driver's UPI QR, confirm pay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5204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7F7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39090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9090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36850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Status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408736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Pooled/dispatched confirmation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5204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7F7F9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5320" y="39090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39090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36850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Login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052560" y="408736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 + vehicle registration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97680" y="51663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7F7F9"/>
          </a:solidFill>
          <a:ln/>
        </p:spPr>
      </p:sp>
      <p:sp>
        <p:nvSpPr>
          <p:cNvPr id="35" name="Shape 33"/>
          <p:cNvSpPr/>
          <p:nvPr/>
        </p:nvSpPr>
        <p:spPr>
          <a:xfrm>
            <a:off x="4526280" y="555498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6" name="Text 34"/>
          <p:cNvSpPr/>
          <p:nvPr/>
        </p:nvSpPr>
        <p:spPr>
          <a:xfrm>
            <a:off x="4526280" y="55549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5303520" y="53309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Dashboard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5303520" y="573328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queue position &amp; trip bookings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Auto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prototype deliberately leaves out — and what comes next.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7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988820" y="214884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/>
          <p:nvPr/>
        </p:nvSpPr>
        <p:spPr>
          <a:xfrm>
            <a:off x="19888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Tracking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918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auto location on the student's map, not just status text.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0" y="18745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7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5737860" y="214884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Text 9"/>
          <p:cNvSpPr/>
          <p:nvPr/>
        </p:nvSpPr>
        <p:spPr>
          <a:xfrm>
            <a:off x="57378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9260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Token Verification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2918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Google ID tokens server-side instead of trusting client-sent email.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7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9486900" y="214884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6" name="Text 14"/>
          <p:cNvSpPr/>
          <p:nvPr/>
        </p:nvSpPr>
        <p:spPr>
          <a:xfrm>
            <a:off x="94869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29260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Webhooks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2918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scan-and-confirm to a verified UPI payment webhook.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7F7F9"/>
          </a:solidFill>
          <a:ln/>
        </p:spPr>
      </p:sp>
      <p:sp>
        <p:nvSpPr>
          <p:cNvPr id="20" name="Shape 18"/>
          <p:cNvSpPr/>
          <p:nvPr/>
        </p:nvSpPr>
        <p:spPr>
          <a:xfrm>
            <a:off x="1988820" y="438912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1" name="Text 19"/>
          <p:cNvSpPr/>
          <p:nvPr/>
        </p:nvSpPr>
        <p:spPr>
          <a:xfrm>
            <a:off x="1988820" y="4389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1663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Feedback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5321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rate drivers and trips to surface quality issues.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97680" y="411480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7F7F9"/>
          </a:solidFill>
          <a:ln/>
        </p:spPr>
      </p:sp>
      <p:sp>
        <p:nvSpPr>
          <p:cNvPr id="25" name="Shape 23"/>
          <p:cNvSpPr/>
          <p:nvPr/>
        </p:nvSpPr>
        <p:spPr>
          <a:xfrm>
            <a:off x="5737860" y="438912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6" name="Text 24"/>
          <p:cNvSpPr/>
          <p:nvPr/>
        </p:nvSpPr>
        <p:spPr>
          <a:xfrm>
            <a:off x="5737860" y="4389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434840" y="51663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Push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55321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driver dashboard's 5-second poll with real-time push.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46720" y="411480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7F7F9"/>
          </a:solidFill>
          <a:ln/>
        </p:spPr>
      </p:sp>
      <p:sp>
        <p:nvSpPr>
          <p:cNvPr id="30" name="Shape 28"/>
          <p:cNvSpPr/>
          <p:nvPr/>
        </p:nvSpPr>
        <p:spPr>
          <a:xfrm>
            <a:off x="9486900" y="438912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1" name="Text 29"/>
          <p:cNvSpPr/>
          <p:nvPr/>
        </p:nvSpPr>
        <p:spPr>
          <a:xfrm>
            <a:off x="9486900" y="4389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51663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 Dashboard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55321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utilization, peak-hour demand, and queue health at a glance.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Auto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520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— Thapar Auto Prototype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Institute of Engineering and Technology, Patiala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2026-09-15T03:25:51Z</dcterms:created>
  <dcterms:modified xsi:type="dcterms:W3CDTF">2026-09-15T03:25:51Z</dcterms:modified>
</cp:coreProperties>
</file>